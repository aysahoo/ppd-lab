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9144000" cy="12801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PPD Lab</a:t>
            </a:r>
            <a:br/>
            <a:r>
              <a:t>Course Enrollment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B0C4DE"/>
                </a:solidFill>
              </a:rPr>
              <a:t>A full-stack student–admin platform built with React + Fastify +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4919472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1: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4919472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2: SRS+Gantt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58184" y="4919472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3: Use Case+Activity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77256" y="4919472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4: Class+Interaction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96328" y="4919472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5: State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541264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6: Package 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39112" y="5541264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7: Tech+Domain Impl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58184" y="5541264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8: UI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7256" y="5541264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9: Comp+Deploy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6328" y="5541264"/>
            <a:ext cx="1664208" cy="502920"/>
          </a:xfrm>
          <a:prstGeom prst="roundRect">
            <a:avLst/>
          </a:prstGeom>
          <a:solidFill>
            <a:srgbClr val="263A7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FFFFFF"/>
                </a:solidFill>
              </a:rPr>
              <a:t>Exp 10: Test+Docs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7088AA"/>
                </a:solidFill>
              </a:rPr>
              <a:t>PPD Lab Coursework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Project overview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24128"/>
            <a:ext cx="3931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About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4114800" cy="502920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0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Web-based course enrollment and student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28216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Monorepo: 3 React/Vite SPAs + 1 Fastify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93392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PostgreSQL (Neon) via Drizzle 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258568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JWT authentication + RBAC (student / admin)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523744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Follows 10-experiment PPD Lab syllabus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88920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Phase 1→10: problem → SRS → design → implementation →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054096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OpenAPI/Swagger UI at /documentation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319272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GitHub Actions CI: lint, test, build on every push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005840"/>
            <a:ext cx="4251960" cy="36576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024128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371600"/>
            <a:ext cx="4251960" cy="214884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1463040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React 19, Vite 8, TypeScript, shadcn/ui (Base UI), 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1728216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Node.js 20+, Fastify, Drizzle ORM, Zod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1993392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PostgreSQL on Neon (pooled connection string)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2258568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JWT (jose) + bcrypt  ·  Pino structured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2523744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Vitest (unit + HTTP smoke)  ·  GitHub Actions CI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03320"/>
            <a:ext cx="4251960" cy="3657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721608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 Roles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069080"/>
            <a:ext cx="4251960" cy="233172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4160520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Student: register, login, browse catalog, request &amp; cancel enrollment,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425696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 view status, update profile, receive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690872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Admin: manage courses &amp; students, approve/reject enrollments,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956048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 view dashboard &amp; reports, manage admin accounts,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5221224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 send notifications to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Goals and expected outcomes of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224528" cy="36576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24128"/>
            <a:ext cx="40416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Primary Goal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4224528" cy="141732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0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Build an end-to-end course enrollment platform for a university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28216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Two roles: Student (self-service) and Admin (governance)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93392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Persistent, consistent data via PostgreSQL with Drizzle migrations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005840"/>
            <a:ext cx="4224528" cy="36576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024128"/>
            <a:ext cx="40416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&amp; Authorization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371600"/>
            <a:ext cx="4224528" cy="141732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463040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Passwords stored as bcrypt hashes; JWT tokens with per-token jti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728216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Role-based access control on every route (student vs admin)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993392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Token revocation on logout via revoked_tokens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4224528" cy="3657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44368"/>
            <a:ext cx="40416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Business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4224528" cy="141732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383280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Capacity enforcement: approved_count &lt; capacity before 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648456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Prerequisite check at enrollment request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913632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Duplicate enrollment prevention (UNIQUE constraint)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926080"/>
            <a:ext cx="4224528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944368"/>
            <a:ext cx="40416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Engineering Quality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3291840"/>
            <a:ext cx="4224528" cy="141732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3383280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TypeScript end-to-end; Zod schemas for all inputs/outputs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3648456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Vitest tests + optional DB integration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3913632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CI pipeline (lint, test, build) on GitHub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4224528" cy="365760"/>
          </a:xfrm>
          <a:prstGeom prst="rect">
            <a:avLst/>
          </a:prstGeom>
          <a:solidFill>
            <a:srgbClr val="6A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864608"/>
            <a:ext cx="40416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 Experience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212080"/>
            <a:ext cx="4224528" cy="141732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303520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Clean React SPA with role-aware routing and navigation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568696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In-app notifications with bell + Sonner toasts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5833872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Enrollment status polling every 15 s while tab visible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4846320"/>
            <a:ext cx="4224528" cy="3657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4864608"/>
            <a:ext cx="40416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5212080"/>
            <a:ext cx="4224528" cy="141732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8888" y="5303520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OpenAPI/Swagger at /documentation auto-generated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888" y="5568696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README with setup, env vars, migrate, first-admin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5833872"/>
            <a:ext cx="4041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This presentation: all 10 experiments covered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Articulating the core challenges this system must address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1 —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Why a web-based enrollment system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87552"/>
            <a:ext cx="8595360" cy="640080"/>
          </a:xfrm>
          <a:prstGeom prst="roundRect">
            <a:avLst/>
          </a:prstGeom>
          <a:solidFill>
            <a:srgbClr val="FDE8E2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8229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702000"/>
                </a:solidFill>
              </a:rPr>
              <a:t>Manual / spreadsheet-based enrollment is error-prone, opaque, and difficult to audit. Students and administrators lack a single governed platform with real-time visibility, enforced rules, and secure role-separated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4224528" cy="34747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47088"/>
            <a:ext cx="4041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P1 — Capacity Overruns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76272"/>
            <a:ext cx="4224528" cy="1078992"/>
          </a:xfrm>
          <a:prstGeom prst="rect">
            <a:avLst/>
          </a:prstGeom>
          <a:solidFill>
            <a:srgbClr val="FDE8E2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49424"/>
            <a:ext cx="40233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Without server-side enforcement, courses can exceed seat limits. No automated feedback to students on availability.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83280"/>
            <a:ext cx="4224528" cy="347472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401568"/>
            <a:ext cx="4041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P2 — Prerequisite Blindness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30752"/>
            <a:ext cx="4224528" cy="1078992"/>
          </a:xfrm>
          <a:prstGeom prst="rect">
            <a:avLst/>
          </a:prstGeom>
          <a:solidFill>
            <a:srgbClr val="D9EAF9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803904"/>
            <a:ext cx="40233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Students may skip required prior courses. Manual checking is inconsistent and time-consuming for staff.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37760"/>
            <a:ext cx="4224528" cy="347472"/>
          </a:xfrm>
          <a:prstGeom prst="rect">
            <a:avLst/>
          </a:prstGeom>
          <a:solidFill>
            <a:srgbClr val="6A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956048"/>
            <a:ext cx="4041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P3 — No Role Separation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85232"/>
            <a:ext cx="4224528" cy="1078992"/>
          </a:xfrm>
          <a:prstGeom prst="rect">
            <a:avLst/>
          </a:prstGeom>
          <a:solidFill>
            <a:srgbClr val="EFE0FF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358384"/>
            <a:ext cx="40233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Flat access models allow cross-role data leaks. Admin-only functions (approve, manage, report) must be strictly guarded.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828800"/>
            <a:ext cx="4224528" cy="3474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1847088"/>
            <a:ext cx="4041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P4 — Weak Audit Trail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2176272"/>
            <a:ext cx="4224528" cy="1078992"/>
          </a:xfrm>
          <a:prstGeom prst="rect">
            <a:avLst/>
          </a:prstGeom>
          <a:solidFill>
            <a:srgbClr val="D0F0EB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2249424"/>
            <a:ext cx="40233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Enrollment history, status changes, and admin actions must be persisted and queryable for reports and disputes.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383280"/>
            <a:ext cx="4224528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3401568"/>
            <a:ext cx="4041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P5 — Poor Feedback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3730752"/>
            <a:ext cx="4224528" cy="1078992"/>
          </a:xfrm>
          <a:prstGeom prst="rect">
            <a:avLst/>
          </a:prstGeom>
          <a:solidFill>
            <a:srgbClr val="D8F3DC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3803904"/>
            <a:ext cx="40233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Students have no real-time visibility into request status. A notification system is required to close this gap.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937760"/>
            <a:ext cx="4224528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4956048"/>
            <a:ext cx="4041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P6 — Maintainability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5285232"/>
            <a:ext cx="4224528" cy="1078992"/>
          </a:xfrm>
          <a:prstGeom prst="rect">
            <a:avLst/>
          </a:prstGeom>
          <a:solidFill>
            <a:srgbClr val="F0F4F8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5358384"/>
            <a:ext cx="40233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Codebase must be typed, validated, tested, and documented so any developer can confidently extend or deploy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IEEE SRS + Risk Management + Gantt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Structured requirements, risk table, and project timeline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2 — IEEE Standard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Software Requirements Specification (condensed)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4206240" cy="36576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Functional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4206240" cy="512064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4475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FR-01  User registration (email + password)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0992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FR-02  Login / logout with JWT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75104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FR-03  GET /auth/me — authenticated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240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FR-04  Profile view and update (/account)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50545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FR-05  Browse course catalog (list + detail)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7063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FR-06  Request course enrollment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03580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FR-07  View own enrollment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300984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FR-08  Cancel pending enrollment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56616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FR-09  Admin: CRUD courses + prerequisites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83133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FR-10  Admin: approve / reject enrollments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09651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FR-11  Admin: student list and profile 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36168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FR-12  Admin: dashboard KPIs and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626864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FR-13  In-app notifications (create / read)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89204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FR-14  Admin: manage other admin accounts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987552"/>
            <a:ext cx="4160520" cy="36576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005840"/>
            <a:ext cx="3977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Non-Functional Requirements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353312"/>
            <a:ext cx="4160520" cy="237744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1444752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NFR-01  Passwords hashed (bcrypt); never plaintext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1709928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NFR-02  JWT: signed, scoped role claims, jti revocation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975104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NFR-03  CORS scoped to CLIENT_ORIGIN env var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2240280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NFR-04  GET /health + GET /health/db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505456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NFR-05  Structured logging via Pino (LOG_LEVEL)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2770632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NFR-06  Zod validation on all request bodies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035808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NFR-07  OpenAPI / Swagger at /documentation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3300984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NFR-08  Drizzle DB migrations (versioned schema)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913632"/>
            <a:ext cx="4160520" cy="3657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931920"/>
            <a:ext cx="3977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System Constraints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4279392"/>
            <a:ext cx="4160520" cy="219456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4370832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Node.js &gt;= 20.19.0  (Vite 8 requires 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636008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PostgreSQL on Neon; pooled connection string 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4901184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Multiple Vite origins comma-separated in CLIENT_ORIGIN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5166360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File uploads stored locally (lab scope only)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5431536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No WebSocket — polling used for real-time UI updates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5696712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Browser: modern Chromium/Firefox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2 — Risk Management &amp; Gantt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Key project risks and phased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8595360" cy="36576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2011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005840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Likelihood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005840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005840"/>
            <a:ext cx="374903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53312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DB connection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1389888"/>
            <a:ext cx="1051560" cy="274320"/>
          </a:xfrm>
          <a:prstGeom prst="roundRect">
            <a:avLst/>
          </a:prstGeom>
          <a:solidFill>
            <a:srgbClr val="D0F0EB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1389888"/>
            <a:ext cx="960120" cy="274320"/>
          </a:xfrm>
          <a:prstGeom prst="roundRect">
            <a:avLst/>
          </a:prstGeom>
          <a:solidFill>
            <a:srgbClr val="FDE8E2"/>
          </a:solidFill>
          <a:ln w="1016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37160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GET /health/db + Neon pooling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00784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719072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JWT secret leak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1737360"/>
            <a:ext cx="1051560" cy="274320"/>
          </a:xfrm>
          <a:prstGeom prst="roundRect">
            <a:avLst/>
          </a:prstGeom>
          <a:solidFill>
            <a:srgbClr val="D0F0EB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1737360"/>
            <a:ext cx="960120" cy="274320"/>
          </a:xfrm>
          <a:prstGeom prst="roundRect">
            <a:avLst/>
          </a:prstGeom>
          <a:solidFill>
            <a:srgbClr val="FDE8E2"/>
          </a:solidFill>
          <a:ln w="1016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719072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Env var; never in source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048256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066544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Capacity race condition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2084832"/>
            <a:ext cx="1051560" cy="274320"/>
          </a:xfrm>
          <a:prstGeom prst="roundRect">
            <a:avLst/>
          </a:prstGeom>
          <a:solidFill>
            <a:srgbClr val="FDE8E2"/>
          </a:solidFill>
          <a:ln w="1016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2084832"/>
            <a:ext cx="960120" cy="274320"/>
          </a:xfrm>
          <a:prstGeom prst="roundRect">
            <a:avLst/>
          </a:prstGeom>
          <a:solidFill>
            <a:srgbClr val="FFF3CD"/>
          </a:solidFill>
          <a:ln w="1016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066544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Atomic count check on approve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95728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414016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Missing prerequisites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2432304"/>
            <a:ext cx="1051560" cy="274320"/>
          </a:xfrm>
          <a:prstGeom prst="roundRect">
            <a:avLst/>
          </a:prstGeom>
          <a:solidFill>
            <a:srgbClr val="FDE8E2"/>
          </a:solidFill>
          <a:ln w="1016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1880" y="2432304"/>
            <a:ext cx="960120" cy="274320"/>
          </a:xfrm>
          <a:prstGeom prst="roundRect">
            <a:avLst/>
          </a:prstGeom>
          <a:solidFill>
            <a:srgbClr val="FFF3CD"/>
          </a:solidFill>
          <a:ln w="1016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414016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Server-side check at POST /enrollments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76148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CORS misconfiguration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2779776"/>
            <a:ext cx="1051560" cy="274320"/>
          </a:xfrm>
          <a:prstGeom prst="roundRect">
            <a:avLst/>
          </a:prstGeom>
          <a:solidFill>
            <a:srgbClr val="D0F0EB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2779776"/>
            <a:ext cx="960120" cy="274320"/>
          </a:xfrm>
          <a:prstGeom prst="roundRect">
            <a:avLst/>
          </a:prstGeom>
          <a:solidFill>
            <a:srgbClr val="FFF3CD"/>
          </a:solidFill>
          <a:ln w="1016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2761488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CLIENT_ORIGIN env var; tested locally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090672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10896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Test coverage gap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23160" y="3127248"/>
            <a:ext cx="1051560" cy="274320"/>
          </a:xfrm>
          <a:prstGeom prst="roundRect">
            <a:avLst/>
          </a:prstGeom>
          <a:solidFill>
            <a:srgbClr val="FDE8E2"/>
          </a:solidFill>
          <a:ln w="1016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11880" y="3127248"/>
            <a:ext cx="960120" cy="274320"/>
          </a:xfrm>
          <a:prstGeom prst="roundRect">
            <a:avLst/>
          </a:prstGeom>
          <a:solidFill>
            <a:srgbClr val="D0F0EB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10896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Vitest suite + RUN_DB_INTEGRATION flag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5478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2B5E"/>
                </a:solidFill>
              </a:rPr>
              <a:t>Project Gantt Chart (Phases 1–10)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389534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1  Foundation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3895344"/>
            <a:ext cx="566928" cy="256032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18795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2  Authentication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4187952"/>
            <a:ext cx="566928" cy="2560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48056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3  Courses (SRS→UC→CD)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9896" y="4480560"/>
            <a:ext cx="850392" cy="256032"/>
          </a:xfrm>
          <a:prstGeom prst="rect">
            <a:avLst/>
          </a:prstGeom>
          <a:solidFill>
            <a:srgbClr val="6A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77316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4  Enrollment workflow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90288" y="4773168"/>
            <a:ext cx="850392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506577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5  Admin aggregation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5065776"/>
            <a:ext cx="566928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535838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6  Notifications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07608" y="5358384"/>
            <a:ext cx="453542" cy="256032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65099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7  Tech+Domain impl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61150" y="5650992"/>
            <a:ext cx="453542" cy="25603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594360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8  UI layer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4692" y="5943600"/>
            <a:ext cx="396849" cy="2560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23620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9  Comp+Deploy diagrams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1542" y="6236208"/>
            <a:ext cx="396849" cy="256032"/>
          </a:xfrm>
          <a:prstGeom prst="rect">
            <a:avLst/>
          </a:prstGeom>
          <a:solidFill>
            <a:srgbClr val="6A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2881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 10 Test + Docs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08392" y="6528816"/>
            <a:ext cx="566928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Use Case Model + UML Activity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Who interacts with the system and what they 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3(i) — 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Actors: Student, Admin  |  System boundary: Course Enrollment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987552"/>
            <a:ext cx="4754880" cy="5623560"/>
          </a:xfrm>
          <a:prstGeom prst="rect">
            <a:avLst/>
          </a:prstGeom>
          <a:solidFill>
            <a:srgbClr val="F0F4F8"/>
          </a:solidFill>
          <a:ln w="2540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00584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A2B5E"/>
                </a:solidFill>
              </a:rPr>
              <a:t>Course Enrollment System</a:t>
            </a:r>
          </a:p>
        </p:txBody>
      </p:sp>
      <p:sp>
        <p:nvSpPr>
          <p:cNvPr id="9" name="Oval 8"/>
          <p:cNvSpPr/>
          <p:nvPr/>
        </p:nvSpPr>
        <p:spPr>
          <a:xfrm>
            <a:off x="2423160" y="141732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Register / Login</a:t>
            </a:r>
          </a:p>
        </p:txBody>
      </p:sp>
      <p:sp>
        <p:nvSpPr>
          <p:cNvPr id="10" name="Oval 9"/>
          <p:cNvSpPr/>
          <p:nvPr/>
        </p:nvSpPr>
        <p:spPr>
          <a:xfrm>
            <a:off x="2423160" y="205740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View Profile</a:t>
            </a:r>
          </a:p>
        </p:txBody>
      </p:sp>
      <p:sp>
        <p:nvSpPr>
          <p:cNvPr id="11" name="Oval 10"/>
          <p:cNvSpPr/>
          <p:nvPr/>
        </p:nvSpPr>
        <p:spPr>
          <a:xfrm>
            <a:off x="2423160" y="269748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Browse Catalog</a:t>
            </a:r>
          </a:p>
        </p:txBody>
      </p:sp>
      <p:sp>
        <p:nvSpPr>
          <p:cNvPr id="12" name="Oval 11"/>
          <p:cNvSpPr/>
          <p:nvPr/>
        </p:nvSpPr>
        <p:spPr>
          <a:xfrm>
            <a:off x="2423160" y="333756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Request Enrollment</a:t>
            </a:r>
          </a:p>
        </p:txBody>
      </p:sp>
      <p:sp>
        <p:nvSpPr>
          <p:cNvPr id="13" name="Oval 12"/>
          <p:cNvSpPr/>
          <p:nvPr/>
        </p:nvSpPr>
        <p:spPr>
          <a:xfrm>
            <a:off x="2423160" y="3977639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View Enrollment Status</a:t>
            </a:r>
          </a:p>
        </p:txBody>
      </p:sp>
      <p:sp>
        <p:nvSpPr>
          <p:cNvPr id="14" name="Oval 13"/>
          <p:cNvSpPr/>
          <p:nvPr/>
        </p:nvSpPr>
        <p:spPr>
          <a:xfrm>
            <a:off x="2423160" y="461772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Cancel Enrollment</a:t>
            </a:r>
          </a:p>
        </p:txBody>
      </p:sp>
      <p:sp>
        <p:nvSpPr>
          <p:cNvPr id="15" name="Oval 14"/>
          <p:cNvSpPr/>
          <p:nvPr/>
        </p:nvSpPr>
        <p:spPr>
          <a:xfrm>
            <a:off x="2423160" y="525780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View Notifications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141732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Manage Courses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05740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Manage Students</a:t>
            </a:r>
          </a:p>
        </p:txBody>
      </p:sp>
      <p:sp>
        <p:nvSpPr>
          <p:cNvPr id="18" name="Oval 17"/>
          <p:cNvSpPr/>
          <p:nvPr/>
        </p:nvSpPr>
        <p:spPr>
          <a:xfrm>
            <a:off x="4480560" y="269748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Approve Enrollment</a:t>
            </a:r>
          </a:p>
        </p:txBody>
      </p:sp>
      <p:sp>
        <p:nvSpPr>
          <p:cNvPr id="19" name="Oval 18"/>
          <p:cNvSpPr/>
          <p:nvPr/>
        </p:nvSpPr>
        <p:spPr>
          <a:xfrm>
            <a:off x="4480560" y="333756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Reject Enrollment</a:t>
            </a:r>
          </a:p>
        </p:txBody>
      </p:sp>
      <p:sp>
        <p:nvSpPr>
          <p:cNvPr id="20" name="Oval 19"/>
          <p:cNvSpPr/>
          <p:nvPr/>
        </p:nvSpPr>
        <p:spPr>
          <a:xfrm>
            <a:off x="4480560" y="3977639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View Dashboard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461772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Generate Reports</a:t>
            </a:r>
          </a:p>
        </p:txBody>
      </p:sp>
      <p:sp>
        <p:nvSpPr>
          <p:cNvPr id="22" name="Oval 21"/>
          <p:cNvSpPr/>
          <p:nvPr/>
        </p:nvSpPr>
        <p:spPr>
          <a:xfrm>
            <a:off x="4480560" y="5257800"/>
            <a:ext cx="2057400" cy="420624"/>
          </a:xfrm>
          <a:prstGeom prst="ellipse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A2B5E"/>
                </a:solidFill>
              </a:rPr>
              <a:t>Send Notifications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154680"/>
            <a:ext cx="1691640" cy="512064"/>
          </a:xfrm>
          <a:prstGeom prst="roundRect">
            <a:avLst/>
          </a:prstGeom>
          <a:solidFill>
            <a:srgbClr val="D0F0EB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</a:rPr>
              <a:t>👤  Student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3154680"/>
            <a:ext cx="1691640" cy="512064"/>
          </a:xfrm>
          <a:prstGeom prst="roundRect">
            <a:avLst/>
          </a:prstGeom>
          <a:solidFill>
            <a:srgbClr val="FDE8E2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</a:rPr>
              <a:t>🛡  Admin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65960" y="1627632"/>
            <a:ext cx="320040" cy="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65960" y="2267712"/>
            <a:ext cx="320040" cy="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65960" y="2907792"/>
            <a:ext cx="320040" cy="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65960" y="3547872"/>
            <a:ext cx="320040" cy="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65960" y="4187951"/>
            <a:ext cx="320040" cy="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65960" y="4828032"/>
            <a:ext cx="320040" cy="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65960" y="5468112"/>
            <a:ext cx="320040" cy="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24712" y="3410712"/>
            <a:ext cx="841248" cy="0"/>
          </a:xfrm>
          <a:prstGeom prst="line">
            <a:avLst/>
          </a:prstGeom>
          <a:ln w="190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37960" y="1627632"/>
            <a:ext cx="640080" cy="0"/>
          </a:xfrm>
          <a:prstGeom prst="line">
            <a:avLst/>
          </a:prstGeom>
          <a:ln w="152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537960" y="2267712"/>
            <a:ext cx="640080" cy="0"/>
          </a:xfrm>
          <a:prstGeom prst="line">
            <a:avLst/>
          </a:prstGeom>
          <a:ln w="152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37960" y="2907792"/>
            <a:ext cx="640080" cy="0"/>
          </a:xfrm>
          <a:prstGeom prst="line">
            <a:avLst/>
          </a:prstGeom>
          <a:ln w="152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537960" y="3547872"/>
            <a:ext cx="640080" cy="0"/>
          </a:xfrm>
          <a:prstGeom prst="line">
            <a:avLst/>
          </a:prstGeom>
          <a:ln w="152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37960" y="4187951"/>
            <a:ext cx="640080" cy="0"/>
          </a:xfrm>
          <a:prstGeom prst="line">
            <a:avLst/>
          </a:prstGeom>
          <a:ln w="152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37960" y="4828032"/>
            <a:ext cx="640080" cy="0"/>
          </a:xfrm>
          <a:prstGeom prst="line">
            <a:avLst/>
          </a:prstGeom>
          <a:ln w="152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37960" y="5468112"/>
            <a:ext cx="640080" cy="0"/>
          </a:xfrm>
          <a:prstGeom prst="line">
            <a:avLst/>
          </a:prstGeom>
          <a:ln w="152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537960" y="3410712"/>
            <a:ext cx="640080" cy="0"/>
          </a:xfrm>
          <a:prstGeom prst="line">
            <a:avLst/>
          </a:prstGeom>
          <a:ln w="190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74320" y="6400800"/>
            <a:ext cx="8595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55B6E"/>
                </a:solidFill>
              </a:rPr>
              <a:t>«extend» Notify Student applies to both Approve Enrollment and Reject Enrollment  ·  Capacity + prerequisite checks are «include» sub-flows of Approve Enrollment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3(ii) — UML Activity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Enrollment request business activity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78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07592"/>
            <a:ext cx="2743200" cy="5166360"/>
          </a:xfrm>
          <a:prstGeom prst="rect">
            <a:avLst/>
          </a:prstGeom>
          <a:solidFill>
            <a:srgbClr val="D9EAF9"/>
          </a:solidFill>
          <a:ln w="1016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960120"/>
            <a:ext cx="2743200" cy="3474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978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 /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307592"/>
            <a:ext cx="2743200" cy="5166360"/>
          </a:xfrm>
          <a:prstGeom prst="rect">
            <a:avLst/>
          </a:prstGeom>
          <a:solidFill>
            <a:srgbClr val="D0F0EB"/>
          </a:solidFill>
          <a:ln w="101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1307592"/>
            <a:ext cx="18288" cy="5166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960120"/>
            <a:ext cx="2743200" cy="34747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978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307592"/>
            <a:ext cx="2743200" cy="5166360"/>
          </a:xfrm>
          <a:prstGeom prst="rect">
            <a:avLst/>
          </a:prstGeom>
          <a:solidFill>
            <a:srgbClr val="FDE8E2"/>
          </a:solidFill>
          <a:ln w="1016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1307592"/>
            <a:ext cx="18288" cy="51663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1389888"/>
            <a:ext cx="274320" cy="27432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234440" y="1664208"/>
            <a:ext cx="0" cy="118872"/>
          </a:xfrm>
          <a:prstGeom prst="line">
            <a:avLst/>
          </a:prstGeom>
          <a:ln w="1905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1783080"/>
            <a:ext cx="23774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Browse course catalog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45920.0" y="2240280"/>
            <a:ext cx="0.0" cy="109728"/>
          </a:xfrm>
          <a:prstGeom prst="line">
            <a:avLst/>
          </a:prstGeom>
          <a:ln w="1905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2350008"/>
            <a:ext cx="23774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Click 'Request Enrollment'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45920.0" y="2807208"/>
            <a:ext cx="2468880.0" cy="109728"/>
          </a:xfrm>
          <a:prstGeom prst="line">
            <a:avLst/>
          </a:prstGeom>
          <a:ln w="1905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00400" y="2916936"/>
            <a:ext cx="2377440" cy="457200"/>
          </a:xfrm>
          <a:prstGeom prst="roundRect">
            <a:avLst/>
          </a:prstGeom>
          <a:solidFill>
            <a:srgbClr val="D0F0EB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Validate JWT + role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89120.0" y="3374136"/>
            <a:ext cx="0.0" cy="109728"/>
          </a:xfrm>
          <a:prstGeom prst="line">
            <a:avLst/>
          </a:prstGeom>
          <a:ln w="190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3474720" y="3483864"/>
            <a:ext cx="1828800" cy="475488"/>
          </a:xfrm>
          <a:prstGeom prst="diamond">
            <a:avLst/>
          </a:prstGeom>
          <a:solidFill>
            <a:srgbClr val="FFF3C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Prereqs met?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89120" y="3959352"/>
            <a:ext cx="0" cy="109728"/>
          </a:xfrm>
          <a:prstGeom prst="line">
            <a:avLst/>
          </a:prstGeom>
          <a:ln w="190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00400" y="4069080"/>
            <a:ext cx="2377440" cy="457200"/>
          </a:xfrm>
          <a:prstGeom prst="roundRect">
            <a:avLst/>
          </a:prstGeom>
          <a:solidFill>
            <a:srgbClr val="D0F0EB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Check capacity + duplicates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89120.0" y="4526280"/>
            <a:ext cx="0.0" cy="109728"/>
          </a:xfrm>
          <a:prstGeom prst="line">
            <a:avLst/>
          </a:prstGeom>
          <a:ln w="190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00400" y="4636008"/>
            <a:ext cx="2377440" cy="457200"/>
          </a:xfrm>
          <a:prstGeom prst="roundRect">
            <a:avLst/>
          </a:prstGeom>
          <a:solidFill>
            <a:srgbClr val="D0F0EB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INSERT enrollment (PENDING)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89120.0" y="5093208"/>
            <a:ext cx="2743200.0" cy="109728"/>
          </a:xfrm>
          <a:prstGeom prst="line">
            <a:avLst/>
          </a:prstGeom>
          <a:ln w="190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43600" y="5202936"/>
            <a:ext cx="2377440" cy="457200"/>
          </a:xfrm>
          <a:prstGeom prst="roundRect">
            <a:avLst/>
          </a:prstGeom>
          <a:solidFill>
            <a:srgbClr val="FDE8E2"/>
          </a:solidFill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Review pending enrollments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0.0" y="5660136"/>
            <a:ext cx="0.0" cy="109728"/>
          </a:xfrm>
          <a:prstGeom prst="line">
            <a:avLst/>
          </a:prstGeom>
          <a:ln w="190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iamond 33"/>
          <p:cNvSpPr/>
          <p:nvPr/>
        </p:nvSpPr>
        <p:spPr>
          <a:xfrm>
            <a:off x="6217920" y="5769864"/>
            <a:ext cx="1828800" cy="475488"/>
          </a:xfrm>
          <a:prstGeom prst="diamond">
            <a:avLst/>
          </a:prstGeom>
          <a:solidFill>
            <a:srgbClr val="FFF3C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2E"/>
                </a:solidFill>
              </a:rPr>
              <a:t>Approve?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0" y="6245352"/>
            <a:ext cx="0" cy="109728"/>
          </a:xfrm>
          <a:prstGeom prst="line">
            <a:avLst/>
          </a:prstGeom>
          <a:ln w="190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943600" y="6355080"/>
            <a:ext cx="2377440" cy="457200"/>
          </a:xfrm>
          <a:prstGeom prst="roundRect">
            <a:avLst/>
          </a:prstGeom>
          <a:solidFill>
            <a:srgbClr val="FDE8E2"/>
          </a:solidFill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UPDATE status → APPROVED/REJECTED</a:t>
            </a:r>
            <a:br/>
            <a:r>
              <a:t>+ notify student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123944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E76F51"/>
                </a:solidFill>
              </a:rPr>
              <a:t>No → 422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6409944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E76F51"/>
                </a:solidFill>
              </a:rPr>
              <a:t>No →</a:t>
            </a:r>
            <a:br/>
            <a:r>
              <a:t>Reject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UML Class Diagram + Interaction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Domain model &amp; enrollment sequence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4(i) — UML 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Domain model: User, Course, Enrollment, Notification, CoursePrerequisite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228600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24128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53312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37160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+id: int (PK)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00784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719072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+name: string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048256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2066544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+email: 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395728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2414016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+passwordHash: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743200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276148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+role: student|admin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090672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" y="310896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+isActive: bool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438144"/>
            <a:ext cx="2286000" cy="182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456432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347472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+register()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803904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" y="3822192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+login()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151376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4169664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+logout()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498848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" y="4517136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+updateProfile()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1005840"/>
            <a:ext cx="2286000" cy="347472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1024128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Course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1353312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137160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+id: int (PK)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1700784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3592" y="1719072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+code: string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2048256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3592" y="2066544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+title: string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2395728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2414016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+description: string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2743200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93592" y="276148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+credits: 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3090672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3592" y="310896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+capacity: 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3438144"/>
            <a:ext cx="2286000" cy="182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20440" y="3456432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93592" y="347472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+list()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3803904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93592" y="3822192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+detail()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151376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93592" y="4169664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+create()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4498848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93592" y="4517136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+update()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4846320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93592" y="486460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+delete()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9400" y="1005840"/>
            <a:ext cx="2286000" cy="3474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1024128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Enrollment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29400" y="1353312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02552" y="137160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+id: int (PK)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1700784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02552" y="1719072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+userId: int (FK)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29400" y="2048256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02552" y="2066544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+courseId: int (FK)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9400" y="2395728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02552" y="2414016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+status: PENDING|APPROVED|REJECTED|CANCELLED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29400" y="2743200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02552" y="276148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+createdAt: timestamp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29400" y="3090672"/>
            <a:ext cx="2286000" cy="182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29400" y="3108960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02552" y="312724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+request()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29400" y="3456432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02552" y="347472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+approve()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29400" y="3803904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02552" y="3822192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+reject()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29400" y="4151376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02552" y="4169664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+cancel()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4114800"/>
            <a:ext cx="2011680" cy="34747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4133088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4462272"/>
            <a:ext cx="201168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1752" y="4480560"/>
            <a:ext cx="1901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+id: int (PK)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4809744"/>
            <a:ext cx="201168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1752" y="4828032"/>
            <a:ext cx="1901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+userId: int (FK)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5157216"/>
            <a:ext cx="201168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1752" y="5175504"/>
            <a:ext cx="1901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+message: string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5504688"/>
            <a:ext cx="201168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1752" y="5522976"/>
            <a:ext cx="1901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+read: bool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5852160"/>
            <a:ext cx="2011680" cy="182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8600" y="5870448"/>
            <a:ext cx="2011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1752" y="5888736"/>
            <a:ext cx="1901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+create()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6217920"/>
            <a:ext cx="2011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01752" y="6236208"/>
            <a:ext cx="1901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+markRead()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20440" y="4114800"/>
            <a:ext cx="2286000" cy="347472"/>
          </a:xfrm>
          <a:prstGeom prst="rect">
            <a:avLst/>
          </a:prstGeom>
          <a:solidFill>
            <a:srgbClr val="6A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566160" y="4133088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CoursePrerequisite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20440" y="4462272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93592" y="4480560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&lt;&lt;junction&gt;&gt;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20440" y="4809744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593592" y="4828032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+courseId: int (FK)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20440" y="5157216"/>
            <a:ext cx="228600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93592" y="5175504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+prerequisiteId: int (FK)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20440" y="5504688"/>
            <a:ext cx="2286000" cy="182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520440" y="5522976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593592" y="5541264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+add()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20440" y="5870448"/>
            <a:ext cx="2286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93592" y="5888736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+remove()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29400" y="4114800"/>
            <a:ext cx="2240280" cy="347472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675120" y="4133088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RevokedToken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629400" y="4462272"/>
            <a:ext cx="224028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02552" y="4480560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+id: int (PK)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629400" y="4809744"/>
            <a:ext cx="224028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702552" y="4828032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+jti: string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29400" y="5157216"/>
            <a:ext cx="224028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702552" y="5175504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+expiresAt: timestamp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29400" y="5504688"/>
            <a:ext cx="2240280" cy="182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522976"/>
            <a:ext cx="22402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02552" y="5541264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+revoke()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29400" y="5870448"/>
            <a:ext cx="22402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02552" y="5888736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+isRevoked()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514600" y="2103120"/>
            <a:ext cx="4114800" cy="0"/>
          </a:xfrm>
          <a:prstGeom prst="line">
            <a:avLst/>
          </a:prstGeom>
          <a:ln w="1778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206240" y="182880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A2B5E"/>
                </a:solidFill>
              </a:rPr>
              <a:t>1        *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06240" y="21031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5B6E"/>
                </a:solidFill>
              </a:rPr>
              <a:t>has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806440" y="2103120"/>
            <a:ext cx="1554480" cy="0"/>
          </a:xfrm>
          <a:prstGeom prst="line">
            <a:avLst/>
          </a:prstGeom>
          <a:ln w="17780">
            <a:solidFill>
              <a:srgbClr val="23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234440" y="3794760"/>
            <a:ext cx="0" cy="320040"/>
          </a:xfrm>
          <a:prstGeom prst="line">
            <a:avLst/>
          </a:prstGeom>
          <a:ln w="1778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25880" y="3858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E76F51"/>
                </a:solidFill>
              </a:rPr>
              <a:t>1..*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4983480" y="3822191"/>
            <a:ext cx="0" cy="292609"/>
          </a:xfrm>
          <a:prstGeom prst="line">
            <a:avLst/>
          </a:prstGeom>
          <a:ln w="17780">
            <a:solidFill>
              <a:srgbClr val="6A3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754880" y="38862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A3C9A"/>
                </a:solidFill>
              </a:rPr>
              <a:t>M:N prereq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4(ii) — UML Interaction (Sequence)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Scenario: student requests enrollment — objects and messages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417320" cy="530352"/>
          </a:xfrm>
          <a:prstGeom prst="roundRect">
            <a:avLst/>
          </a:prstGeom>
          <a:solidFill>
            <a:srgbClr val="1A2B5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StudentUI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5296" y="1536192"/>
            <a:ext cx="54864" cy="4892040"/>
          </a:xfrm>
          <a:prstGeom prst="rect">
            <a:avLst/>
          </a:prstGeom>
          <a:solidFill>
            <a:srgbClr val="C0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1005840"/>
            <a:ext cx="1417320" cy="530352"/>
          </a:xfrm>
          <a:prstGeom prst="roundRect">
            <a:avLst/>
          </a:prstGeom>
          <a:solidFill>
            <a:srgbClr val="1A2B5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API</a:t>
            </a:r>
            <a:br/>
            <a:r>
              <a:t>/enrollments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4096" y="1536192"/>
            <a:ext cx="54864" cy="4892040"/>
          </a:xfrm>
          <a:prstGeom prst="rect">
            <a:avLst/>
          </a:prstGeom>
          <a:solidFill>
            <a:srgbClr val="C0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005840"/>
            <a:ext cx="1417320" cy="530352"/>
          </a:xfrm>
          <a:prstGeom prst="roundRect">
            <a:avLst/>
          </a:prstGeom>
          <a:solidFill>
            <a:srgbClr val="1A2B5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EnrollmentService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82896" y="1536192"/>
            <a:ext cx="54864" cy="4892040"/>
          </a:xfrm>
          <a:prstGeom prst="rect">
            <a:avLst/>
          </a:prstGeom>
          <a:solidFill>
            <a:srgbClr val="C0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005840"/>
            <a:ext cx="1417320" cy="530352"/>
          </a:xfrm>
          <a:prstGeom prst="roundRect">
            <a:avLst/>
          </a:prstGeom>
          <a:solidFill>
            <a:srgbClr val="1A2B5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DrizzleORM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1696" y="1536192"/>
            <a:ext cx="54864" cy="4892040"/>
          </a:xfrm>
          <a:prstGeom prst="rect">
            <a:avLst/>
          </a:prstGeom>
          <a:solidFill>
            <a:srgbClr val="C0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0" y="1005840"/>
            <a:ext cx="1417320" cy="530352"/>
          </a:xfrm>
          <a:prstGeom prst="roundRect">
            <a:avLst/>
          </a:prstGeom>
          <a:solidFill>
            <a:srgbClr val="1A2B5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49056" y="1536192"/>
            <a:ext cx="54864" cy="4892040"/>
          </a:xfrm>
          <a:prstGeom prst="rect">
            <a:avLst/>
          </a:prstGeom>
          <a:solidFill>
            <a:srgbClr val="C0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252728" y="1874519"/>
            <a:ext cx="1828800" cy="0"/>
          </a:xfrm>
          <a:prstGeom prst="line">
            <a:avLst/>
          </a:prstGeom>
          <a:ln w="17780">
            <a:solidFill>
              <a:srgbClr val="23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61288" y="1645919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236FB4"/>
                </a:solidFill>
              </a:rPr>
              <a:t>POST /enrollments {courseId}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81528" y="2194560"/>
            <a:ext cx="1828800" cy="0"/>
          </a:xfrm>
          <a:prstGeom prst="line">
            <a:avLst/>
          </a:prstGeom>
          <a:ln w="1778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90088" y="1965960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2A9D8F"/>
                </a:solidFill>
              </a:rPr>
              <a:t>checkPrerequisites(userId, courseId)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10328" y="2487168"/>
            <a:ext cx="1828800" cy="0"/>
          </a:xfrm>
          <a:prstGeom prst="line">
            <a:avLst/>
          </a:prstGeom>
          <a:ln w="1778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18888" y="2258568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2A9D8F"/>
                </a:solidFill>
              </a:rPr>
              <a:t>findApprovedEnrollments(userId)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39128" y="2724912"/>
            <a:ext cx="1737360" cy="0"/>
          </a:xfrm>
          <a:prstGeom prst="line">
            <a:avLst/>
          </a:prstGeom>
          <a:ln w="17780">
            <a:solidFill>
              <a:srgbClr val="555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01968" y="2496312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555B6E"/>
                </a:solidFill>
              </a:rPr>
              <a:t>SELECT enrollments WHERE user_id=…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39128" y="2999232"/>
            <a:ext cx="1737360" cy="0"/>
          </a:xfrm>
          <a:prstGeom prst="line">
            <a:avLst/>
          </a:prstGeom>
          <a:ln w="17780">
            <a:solidFill>
              <a:srgbClr val="555B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01968" y="2770632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555B6E"/>
                </a:solidFill>
              </a:rPr>
              <a:t>rows[]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10328" y="3273552"/>
            <a:ext cx="1828800" cy="0"/>
          </a:xfrm>
          <a:prstGeom prst="line">
            <a:avLst/>
          </a:prstGeom>
          <a:ln w="17780">
            <a:solidFill>
              <a:srgbClr val="555B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18888" y="3044952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555B6E"/>
                </a:solidFill>
              </a:rPr>
              <a:t>prerequisitesMet: bool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10328" y="3584448"/>
            <a:ext cx="1828800" cy="0"/>
          </a:xfrm>
          <a:prstGeom prst="line">
            <a:avLst/>
          </a:prstGeom>
          <a:ln w="1778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18888" y="3355848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E76F51"/>
                </a:solidFill>
              </a:rPr>
              <a:t>checkCapacity(courseId)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39128" y="3858768"/>
            <a:ext cx="1737360" cy="0"/>
          </a:xfrm>
          <a:prstGeom prst="line">
            <a:avLst/>
          </a:prstGeom>
          <a:ln w="17780">
            <a:solidFill>
              <a:srgbClr val="555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01968" y="3630168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555B6E"/>
                </a:solidFill>
              </a:rPr>
              <a:t>SELECT count(approved) for course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39128" y="4133087"/>
            <a:ext cx="1737360" cy="0"/>
          </a:xfrm>
          <a:prstGeom prst="line">
            <a:avLst/>
          </a:prstGeom>
          <a:ln w="17780">
            <a:solidFill>
              <a:srgbClr val="555B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01968" y="3904487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555B6E"/>
                </a:solidFill>
              </a:rPr>
              <a:t>count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10328" y="4407408"/>
            <a:ext cx="1828800" cy="0"/>
          </a:xfrm>
          <a:prstGeom prst="line">
            <a:avLst/>
          </a:prstGeom>
          <a:ln w="17780">
            <a:solidFill>
              <a:srgbClr val="555B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18888" y="4178808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555B6E"/>
                </a:solidFill>
              </a:rPr>
              <a:t>hasCapacity: bool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10328" y="4709160"/>
            <a:ext cx="1828800" cy="0"/>
          </a:xfrm>
          <a:prstGeom prst="line">
            <a:avLst/>
          </a:prstGeom>
          <a:ln w="17780">
            <a:solidFill>
              <a:srgbClr val="2D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18888" y="4480560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2D6A4F"/>
                </a:solidFill>
              </a:rPr>
              <a:t>insertEnrollment(userId, courseId, PENDING)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39128" y="4983480"/>
            <a:ext cx="1737360" cy="0"/>
          </a:xfrm>
          <a:prstGeom prst="line">
            <a:avLst/>
          </a:prstGeom>
          <a:ln w="17780">
            <a:solidFill>
              <a:srgbClr val="555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01968" y="4754880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555B6E"/>
                </a:solidFill>
              </a:rPr>
              <a:t>INSERT INTO enrollments…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39128" y="5257800"/>
            <a:ext cx="1737360" cy="0"/>
          </a:xfrm>
          <a:prstGeom prst="line">
            <a:avLst/>
          </a:prstGeom>
          <a:ln w="17780">
            <a:solidFill>
              <a:srgbClr val="555B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01968" y="5029200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555B6E"/>
                </a:solidFill>
              </a:rPr>
              <a:t>enrollment row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10328" y="5559552"/>
            <a:ext cx="1828800" cy="0"/>
          </a:xfrm>
          <a:prstGeom prst="line">
            <a:avLst/>
          </a:prstGeom>
          <a:ln w="17780">
            <a:solidFill>
              <a:srgbClr val="555B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818888" y="5330952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555B6E"/>
                </a:solidFill>
              </a:rPr>
              <a:t>EnrollmentResponse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081528" y="5833872"/>
            <a:ext cx="1828800" cy="0"/>
          </a:xfrm>
          <a:prstGeom prst="line">
            <a:avLst/>
          </a:prstGeom>
          <a:ln w="17780">
            <a:solidFill>
              <a:srgbClr val="555B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990088" y="5605272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555B6E"/>
                </a:solidFill>
              </a:rPr>
              <a:t>EnrollmentResponse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252728" y="6108192"/>
            <a:ext cx="1828800" cy="0"/>
          </a:xfrm>
          <a:prstGeom prst="line">
            <a:avLst/>
          </a:prstGeom>
          <a:ln w="17780">
            <a:solidFill>
              <a:srgbClr val="555B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61288" y="5879592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1">
                <a:solidFill>
                  <a:srgbClr val="555B6E"/>
                </a:solidFill>
              </a:rPr>
              <a:t>201 Created + enrollment body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State Chart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Enrollment lifecycle state machine with guards and transitions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5 — State Chart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Enrollment status: states, transitions, guards, and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1097280"/>
            <a:ext cx="292608" cy="29260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572768"/>
            <a:ext cx="2011680" cy="585216"/>
          </a:xfrm>
          <a:prstGeom prst="roundRect">
            <a:avLst/>
          </a:prstGeom>
          <a:solidFill>
            <a:srgbClr val="FFF3CD"/>
          </a:solidFill>
          <a:ln w="279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4A261"/>
                </a:solidFill>
              </a:rPr>
              <a:t>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74720"/>
            <a:ext cx="2011680" cy="585216"/>
          </a:xfrm>
          <a:prstGeom prst="roundRect">
            <a:avLst/>
          </a:prstGeom>
          <a:solidFill>
            <a:srgbClr val="D8F3DC"/>
          </a:solidFill>
          <a:ln w="2794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D6A4F"/>
                </a:solidFill>
              </a:rPr>
              <a:t>APPROVED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474720"/>
            <a:ext cx="2011680" cy="585216"/>
          </a:xfrm>
          <a:prstGeom prst="roundRect">
            <a:avLst/>
          </a:prstGeom>
          <a:solidFill>
            <a:srgbClr val="FDE8E2"/>
          </a:solidFill>
          <a:ln w="279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76F51"/>
                </a:solidFill>
              </a:rPr>
              <a:t>REJECTED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212080"/>
            <a:ext cx="2011680" cy="585216"/>
          </a:xfrm>
          <a:prstGeom prst="roundRect">
            <a:avLst/>
          </a:prstGeom>
          <a:solidFill>
            <a:srgbClr val="F0F4F8"/>
          </a:solidFill>
          <a:ln w="27940">
            <a:solidFill>
              <a:srgbClr val="55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55B6E"/>
                </a:solidFill>
              </a:rPr>
              <a:t>CANCELLED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6035040"/>
            <a:ext cx="292608" cy="29260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97096" y="5980176"/>
            <a:ext cx="402336" cy="402336"/>
          </a:xfrm>
          <a:prstGeom prst="ellipse">
            <a:avLst/>
          </a:prstGeom>
          <a:noFill/>
          <a:ln w="2540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398264" y="1389888"/>
            <a:ext cx="0" cy="182880"/>
          </a:xfrm>
          <a:prstGeom prst="line">
            <a:avLst/>
          </a:prstGeom>
          <a:ln w="1905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788920" y="1865376.0"/>
            <a:ext cx="777240" cy="1901952.0"/>
          </a:xfrm>
          <a:prstGeom prst="line">
            <a:avLst/>
          </a:prstGeom>
          <a:ln w="19050">
            <a:solidFill>
              <a:srgbClr val="2D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63140" y="259689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2D6A4F"/>
                </a:solidFill>
              </a:rPr>
              <a:t>[capacity &gt; 0][prereqs met]</a:t>
            </a:r>
            <a:br/>
            <a:r>
              <a:t>Admin: approve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77840" y="1865376.0"/>
            <a:ext cx="777240" cy="1901952.0"/>
          </a:xfrm>
          <a:prstGeom prst="line">
            <a:avLst/>
          </a:prstGeom>
          <a:ln w="190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52060" y="259689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E76F51"/>
                </a:solidFill>
              </a:rPr>
              <a:t>Admin: reject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.0" y="2157984"/>
            <a:ext cx="0.0" cy="3054096"/>
          </a:xfrm>
          <a:prstGeom prst="line">
            <a:avLst/>
          </a:prstGeom>
          <a:ln w="17780">
            <a:solidFill>
              <a:srgbClr val="555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09160" y="32461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55B6E"/>
                </a:solidFill>
              </a:rPr>
              <a:t>Student: cancel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.0" y="4059936"/>
            <a:ext cx="2606040.0" cy="1152144"/>
          </a:xfrm>
          <a:prstGeom prst="line">
            <a:avLst/>
          </a:prstGeom>
          <a:ln w="19050">
            <a:solidFill>
              <a:srgbClr val="555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71700" y="44165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555B6E"/>
                </a:solidFill>
              </a:rPr>
              <a:t>Student: cancel</a:t>
            </a:r>
            <a:br/>
            <a:r>
              <a:t>[status=approved]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.0" y="4059936"/>
            <a:ext cx="2615184.0" cy="1975104"/>
          </a:xfrm>
          <a:prstGeom prst="line">
            <a:avLst/>
          </a:prstGeom>
          <a:ln w="12700">
            <a:solidFill>
              <a:srgbClr val="2D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50749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2D6A4F"/>
                </a:solidFill>
              </a:rPr>
              <a:t>Course ends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398264" y="4059936"/>
            <a:ext cx="2962656.0" cy="1975104"/>
          </a:xfrm>
          <a:prstGeom prst="line">
            <a:avLst/>
          </a:prstGeom>
          <a:ln w="127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398264" y="5797296"/>
            <a:ext cx="173736.0" cy="237744"/>
          </a:xfrm>
          <a:prstGeom prst="line">
            <a:avLst/>
          </a:prstGeom>
          <a:ln w="12700">
            <a:solidFill>
              <a:srgbClr val="555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4320" y="6126480"/>
            <a:ext cx="8595360" cy="384048"/>
          </a:xfrm>
          <a:prstGeom prst="roundRect">
            <a:avLst/>
          </a:prstGeom>
          <a:solidFill>
            <a:srgbClr val="D9EAF9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163056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A2B5E"/>
                </a:solidFill>
              </a:rPr>
              <a:t>Guards: [capacity &gt; approved_count]  and  [all prerequisite courses have APPROVED enrollment]  are checked server-side at POST /enrollments and PUT /enrollments/:id/approve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Layered Architecture + UML Package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UI · Domain · Technical Services — partial logical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6 — UML Package Diagram (Layered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Three-tier logical view with UML package 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2286000" cy="32004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Presentation Layer  (User Interface)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07592"/>
            <a:ext cx="8595360" cy="1463040"/>
          </a:xfrm>
          <a:prstGeom prst="rect">
            <a:avLst/>
          </a:prstGeom>
          <a:solidFill>
            <a:srgbClr val="D9EAF9"/>
          </a:solidFill>
          <a:ln w="2286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399032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«component»</a:t>
            </a:r>
            <a:br/>
            <a:r>
              <a:t>React SPA</a:t>
            </a:r>
            <a:br/>
            <a:r>
              <a:t>(client / client-b / client-c)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56232" y="1399032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«component»</a:t>
            </a:r>
            <a:br/>
            <a:r>
              <a:t>React Router</a:t>
            </a:r>
            <a:br/>
            <a:r>
              <a:t>(role-aware routes)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5264" y="1399032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«component»</a:t>
            </a:r>
            <a:br/>
            <a:r>
              <a:t>Auth Context</a:t>
            </a:r>
            <a:br/>
            <a:r>
              <a:t>+ Route Guards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1399032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«component»</a:t>
            </a:r>
            <a:br/>
            <a:r>
              <a:t>Feature Pages</a:t>
            </a:r>
            <a:br/>
            <a:r>
              <a:t>(Courses, Enrollments,</a:t>
            </a:r>
            <a:br/>
            <a:r>
              <a:t>Account, Admin)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1399032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«component»</a:t>
            </a:r>
            <a:br/>
            <a:r>
              <a:t>NotificationMenu</a:t>
            </a:r>
            <a:br/>
            <a:r>
              <a:t>+ Sonner toasts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399032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«component»</a:t>
            </a:r>
            <a:br/>
            <a:r>
              <a:t>API Client</a:t>
            </a:r>
            <a:br/>
            <a:r>
              <a:t>(lib/api.ts)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80360"/>
            <a:ext cx="2286000" cy="3200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898648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Domain Layer  (Business Logic)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00400"/>
            <a:ext cx="8595360" cy="1463040"/>
          </a:xfrm>
          <a:prstGeom prst="rect">
            <a:avLst/>
          </a:prstGeom>
          <a:solidFill>
            <a:srgbClr val="D0F0EB"/>
          </a:solidFill>
          <a:ln w="228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291840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«service»</a:t>
            </a:r>
            <a:br/>
            <a:r>
              <a:t>CourseService</a:t>
            </a:r>
            <a:br/>
            <a:r>
              <a:t>(list, detail, CRUD)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56232" y="3291840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«service»</a:t>
            </a:r>
            <a:br/>
            <a:r>
              <a:t>EnrollmentService</a:t>
            </a:r>
            <a:br/>
            <a:r>
              <a:t>(request, approve/reject,</a:t>
            </a:r>
            <a:br/>
            <a:r>
              <a:t>capacity + prereq checks)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55264" y="3291840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«service»</a:t>
            </a:r>
            <a:br/>
            <a:r>
              <a:t>StudentService</a:t>
            </a:r>
            <a:br/>
            <a:r>
              <a:t>(profile, scoped routes)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54296" y="3291840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«service»</a:t>
            </a:r>
            <a:br/>
            <a:r>
              <a:t>NotificationService</a:t>
            </a:r>
            <a:br/>
            <a:r>
              <a:t>(create, read)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53328" y="3291840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«service»</a:t>
            </a:r>
            <a:br/>
            <a:r>
              <a:t>AdminService</a:t>
            </a:r>
            <a:br/>
            <a:r>
              <a:t>(dashboard, reports)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291840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«entity»</a:t>
            </a:r>
            <a:br/>
            <a:r>
              <a:t>User · Course · Enrollment</a:t>
            </a:r>
            <a:br/>
            <a:r>
              <a:t>Notification · RevokedToken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73168"/>
            <a:ext cx="2286000" cy="3200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91456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Technical Services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093208"/>
            <a:ext cx="8595360" cy="1463040"/>
          </a:xfrm>
          <a:prstGeom prst="rect">
            <a:avLst/>
          </a:prstGeom>
          <a:solidFill>
            <a:srgbClr val="F0F4F8"/>
          </a:solidFill>
          <a:ln w="2286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5184648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«service»</a:t>
            </a:r>
            <a:br/>
            <a:r>
              <a:t>AuthService</a:t>
            </a:r>
            <a:br/>
            <a:r>
              <a:t>(JWT sign/verify,</a:t>
            </a:r>
            <a:br/>
            <a:r>
              <a:t>bcrypt hash/verify)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56232" y="5184648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«service»</a:t>
            </a:r>
            <a:br/>
            <a:r>
              <a:t>Drizzle ORM</a:t>
            </a:r>
            <a:br/>
            <a:r>
              <a:t>(DB access layer)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55264" y="5184648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«infra»</a:t>
            </a:r>
            <a:br/>
            <a:r>
              <a:t>Fastify Server</a:t>
            </a:r>
            <a:br/>
            <a:r>
              <a:t>(routes, guards,</a:t>
            </a:r>
            <a:br/>
            <a:r>
              <a:t>Zod validation)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54296" y="5184648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«infra»</a:t>
            </a:r>
            <a:br/>
            <a:r>
              <a:t>Pino Logger</a:t>
            </a:r>
            <a:br/>
            <a:r>
              <a:t>(structured logging)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53328" y="5184648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«infra»</a:t>
            </a:r>
            <a:br/>
            <a:r>
              <a:t>Neon PostgreSQL</a:t>
            </a:r>
            <a:br/>
            <a:r>
              <a:t>(pooled connection)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5184648"/>
            <a:ext cx="1344168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2E"/>
                </a:solidFill>
              </a:rPr>
              <a:t>«infra»</a:t>
            </a:r>
            <a:br/>
            <a:r>
              <a:t>UploadService</a:t>
            </a:r>
            <a:br/>
            <a:r>
              <a:t>(file validation +</a:t>
            </a:r>
            <a:br/>
            <a:r>
              <a:t>storage helpers)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0" y="2880360"/>
            <a:ext cx="0" cy="91440"/>
          </a:xfrm>
          <a:prstGeom prst="line">
            <a:avLst/>
          </a:prstGeom>
          <a:ln w="2540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0" y="4882896"/>
            <a:ext cx="0" cy="91440"/>
          </a:xfrm>
          <a:prstGeom prst="line">
            <a:avLst/>
          </a:prstGeom>
          <a:ln w="2540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0" y="27889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A2B5E"/>
                </a:solidFill>
              </a:rPr>
              <a:t>«uses»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5537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A2B5E"/>
                </a:solidFill>
              </a:rPr>
              <a:t>«uses»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Technical Services &amp; Domain Objects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Implementation details for the backend API and database access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7 — Technical Services &amp; Domain Layer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Fastify routes · Drizzle ORM · services · domain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2743200" cy="36576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2560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Domain Entities (Drizzle Schema)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2743200" cy="512064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44752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users</a:t>
            </a:r>
            <a:br/>
            <a:r>
              <a:t>  id, name, email, passwordHash,</a:t>
            </a:r>
            <a:br/>
            <a:r>
              <a:t>  role, isActive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0992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courses</a:t>
            </a:r>
            <a:br/>
            <a:r>
              <a:t>  id, code, title, description,</a:t>
            </a:r>
            <a:br/>
            <a:r>
              <a:t>  credits,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75104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course_prerequisites</a:t>
            </a:r>
            <a:br/>
            <a:r>
              <a:t>  courseId (FK), prerequisiteId (FK)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2402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enrollments</a:t>
            </a:r>
            <a:br/>
            <a:r>
              <a:t>  id, userId (FK), courseId (FK),</a:t>
            </a:r>
            <a:br/>
            <a:r>
              <a:t>  status, createdAt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50545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notifications</a:t>
            </a:r>
            <a:br/>
            <a:r>
              <a:t>  id, userId (FK), message,</a:t>
            </a:r>
            <a:br/>
            <a:r>
              <a:t>  type, read, createdAt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70632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revoked_tokens</a:t>
            </a:r>
            <a:br/>
            <a:r>
              <a:t>  id, jti, expiresAt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987552"/>
            <a:ext cx="2834640" cy="36576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005840"/>
            <a:ext cx="2651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Technical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353312"/>
            <a:ext cx="2834640" cy="512064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144475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AuthService</a:t>
            </a:r>
            <a:br/>
            <a:r>
              <a:t>  bcrypt.hash / compare</a:t>
            </a:r>
            <a:br/>
            <a:r>
              <a:t>  jose sign / verify JWT</a:t>
            </a:r>
            <a:br/>
            <a:r>
              <a:t>  jti revocation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0992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DrizzleORM</a:t>
            </a:r>
            <a:br/>
            <a:r>
              <a:t>  Type-safe query builder</a:t>
            </a:r>
            <a:br/>
            <a:r>
              <a:t>  Migrations via drizzle-kit</a:t>
            </a:r>
            <a:br/>
            <a:r>
              <a:t>  Neon pooled 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1975104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Fastify preHandlers</a:t>
            </a:r>
            <a:br/>
            <a:r>
              <a:t>  authenticate(req, reply)</a:t>
            </a:r>
            <a:br/>
            <a:r>
              <a:t>  requireRole('admin'|'student')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224028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Zod Schemas</a:t>
            </a:r>
            <a:br/>
            <a:r>
              <a:t>  registerSchema, loginSchema</a:t>
            </a:r>
            <a:br/>
            <a:r>
              <a:t>  enrollmentSchema, courseSchema</a:t>
            </a:r>
            <a:br/>
            <a:r>
              <a:t>  Validated on every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505456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Pino Logger</a:t>
            </a:r>
            <a:br/>
            <a:r>
              <a:t>  LOG_LEVEL env var</a:t>
            </a:r>
            <a:br/>
            <a:r>
              <a:t>  Redacts Authorization header</a:t>
            </a:r>
            <a:br/>
            <a:r>
              <a:t>  pino-pretty in dev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987552"/>
            <a:ext cx="2606040" cy="3657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005840"/>
            <a:ext cx="2423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Implementation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353312"/>
            <a:ext cx="2606040" cy="512064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44475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JWT payload: { sub, role, jti, exp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1709928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Logout: INSERT jti into revoked_tokens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1975104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Approval guard:</a:t>
            </a:r>
            <a:br/>
            <a:r>
              <a:t>  SELECT COUNT(*) approved &lt;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2240280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Prereq guard:</a:t>
            </a:r>
            <a:br/>
            <a:r>
              <a:t>  check APPROVED enrollments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505456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Notification in same DB</a:t>
            </a:r>
            <a:br/>
            <a:r>
              <a:t>  transaction as status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77063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UNIQUE(userId, courseId)</a:t>
            </a:r>
            <a:br/>
            <a:r>
              <a:t>  prevents duplicate enrollments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035808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GET /enrollments/mine</a:t>
            </a:r>
            <a:br/>
            <a:r>
              <a:t>  scoped to authenticated 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300984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GET /admin/reports/*</a:t>
            </a:r>
            <a:br/>
            <a:r>
              <a:t>  aggregated SQL queries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566160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File upload:</a:t>
            </a:r>
            <a:br/>
            <a:r>
              <a:t>  PDF validate + write to FS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User Interface Layer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React SPA · routing · pages · components · state management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8 — User Interface Layer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React + Vite · shadcn/ui (Base UI) · Tailwind · role-aware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416052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Student Route Tree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35024"/>
            <a:ext cx="416052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53312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               → Home / Landing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00784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/courses        → Course catalog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29968"/>
            <a:ext cx="416052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48256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/courses/:id    → Course detail + Enroll CTA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77440"/>
            <a:ext cx="4160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/enrollments    → My enrollments (polls 15s)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24912"/>
            <a:ext cx="416052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/account        → Profile edit + file upload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72384"/>
            <a:ext cx="4160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090672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/login  /register → Auth forms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19856"/>
            <a:ext cx="4160520" cy="347472"/>
          </a:xfrm>
          <a:prstGeom prst="rect">
            <a:avLst/>
          </a:prstGeom>
          <a:solidFill>
            <a:srgbClr val="D9EAF9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438144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NotificationMenu → Bell (all authenticated pages)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987552"/>
            <a:ext cx="4206240" cy="3474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00584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Admin Route Tree (/admin/*)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335024"/>
            <a:ext cx="4206240" cy="347472"/>
          </a:xfrm>
          <a:prstGeom prst="rect">
            <a:avLst/>
          </a:prstGeom>
          <a:solidFill>
            <a:srgbClr val="D0F0EB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1353312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/admin/dashboard     → KPIs + send notification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682496"/>
            <a:ext cx="4206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1700784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/admin/students      → Student list + 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029968"/>
            <a:ext cx="4206240" cy="347472"/>
          </a:xfrm>
          <a:prstGeom prst="rect">
            <a:avLst/>
          </a:prstGeom>
          <a:solidFill>
            <a:srgbClr val="D0F0EB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2048256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/admin/courses       → Course CRUD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2377440"/>
            <a:ext cx="4206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2395728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/admin/enrollments   → Approve / reject queue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2724912"/>
            <a:ext cx="4206240" cy="347472"/>
          </a:xfrm>
          <a:prstGeom prst="rect">
            <a:avLst/>
          </a:prstGeom>
          <a:solidFill>
            <a:srgbClr val="D0F0EB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274320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/admin/reports       → Enrollment, student, course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3072384"/>
            <a:ext cx="4206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3090672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/admin/admins        → Admin accounts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3419856"/>
            <a:ext cx="4206240" cy="347472"/>
          </a:xfrm>
          <a:prstGeom prst="rect">
            <a:avLst/>
          </a:prstGeom>
          <a:solidFill>
            <a:srgbClr val="D0F0EB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3438144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AdminLayout wraps all /admin/* routes (RBAC)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96512"/>
            <a:ext cx="4160520" cy="36576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114800"/>
            <a:ext cx="3977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shadcn/ui Component Library (Base UI)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462272"/>
            <a:ext cx="4160520" cy="201168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4553712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Button, Input, Card, Dialog, Dropdown — from shadcn CLI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4818888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Base UI primitives (not Radix) — composition pattern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5084064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Tailwind CSS theming via CSS variables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5349240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lucide-react icons throughout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5614416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Sonner toasts for async feedback (enroll, approve, errors)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5879592"/>
            <a:ext cx="3977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All components in src/components/ui/ (generated)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4096512"/>
            <a:ext cx="4206240" cy="365760"/>
          </a:xfrm>
          <a:prstGeom prst="rect">
            <a:avLst/>
          </a:prstGeom>
          <a:solidFill>
            <a:srgbClr val="6A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4114800"/>
            <a:ext cx="4023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State &amp; Data Fetching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4462272"/>
            <a:ext cx="4206240" cy="201168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27448" y="455371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Auth state in React Context (AuthContext)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7448" y="481888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JWT stored in-memory / localStorage (lab scope)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7448" y="5084064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API calls via fetch in lib/api.ts (no TanStack Query)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7448" y="534924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Bearer token attached to every protected request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27448" y="561441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Enrollment list polls via setInterval (15 s) while visible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27448" y="587959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React Router v6 for client-side navigation + guards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Component &amp; Deployment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Physical components and deployment topology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9 — Component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System components, interfaces, and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3931920" cy="36576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3749039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«subsystem»  Frontend (Vite/React)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3931920" cy="3931920"/>
          </a:xfrm>
          <a:prstGeom prst="rect">
            <a:avLst/>
          </a:prstGeom>
          <a:solidFill>
            <a:srgbClr val="D9EAF9"/>
          </a:solidFill>
          <a:ln w="1905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463040"/>
            <a:ext cx="3657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2B5E"/>
                </a:solidFill>
              </a:rPr>
              <a:t>AppRouter + Layouts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11680"/>
            <a:ext cx="3657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2B5E"/>
                </a:solidFill>
              </a:rPr>
              <a:t>AuthContext / Guards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60320"/>
            <a:ext cx="3657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2B5E"/>
                </a:solidFill>
              </a:rPr>
              <a:t>CoursesPage + EnrollmentsPage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108960"/>
            <a:ext cx="3657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2B5E"/>
                </a:solidFill>
              </a:rPr>
              <a:t>AccountPage + AdminPages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57600"/>
            <a:ext cx="3657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2B5E"/>
                </a:solidFill>
              </a:rPr>
              <a:t>NotificationMenu (bell)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206240"/>
            <a:ext cx="3657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2B5E"/>
                </a:solidFill>
              </a:rPr>
              <a:t>lib/api.ts (HTTP client)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3017520"/>
            <a:ext cx="502920" cy="0"/>
          </a:xfrm>
          <a:prstGeom prst="line">
            <a:avLst/>
          </a:prstGeom>
          <a:ln w="2540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33087" y="2743200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1A2B5E"/>
                </a:solidFill>
              </a:rPr>
              <a:t>REST</a:t>
            </a:r>
            <a:br/>
            <a:r>
              <a:t>HTTPS+JWT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987552"/>
            <a:ext cx="4114800" cy="3657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005840"/>
            <a:ext cx="393192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«subsystem»  Backend (Fastify API)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353312"/>
            <a:ext cx="4114800" cy="3931920"/>
          </a:xfrm>
          <a:prstGeom prst="rect">
            <a:avLst/>
          </a:prstGeom>
          <a:solidFill>
            <a:srgbClr val="D0F0EB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1463040"/>
            <a:ext cx="3794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Route Handlers (auth, courses,</a:t>
            </a:r>
            <a:br/>
            <a:r>
              <a:t>enrollments, students, admin)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2011680"/>
            <a:ext cx="3794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preHandlers: authenticate</a:t>
            </a:r>
            <a:br/>
            <a:r>
              <a:t>+ requireRole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2560320"/>
            <a:ext cx="3794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EnrollmentService</a:t>
            </a:r>
            <a:br/>
            <a:r>
              <a:t>(capacity + prereq logic)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3108960"/>
            <a:ext cx="3794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DrizzleORM (type-safe queries)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3657600"/>
            <a:ext cx="3794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AuthService (JWT + bcrypt)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206240"/>
            <a:ext cx="3794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UploadService (PDF storage)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66560" y="5285232"/>
            <a:ext cx="0" cy="310896"/>
          </a:xfrm>
          <a:prstGeom prst="line">
            <a:avLst/>
          </a:prstGeom>
          <a:ln w="25400">
            <a:solidFill>
              <a:srgbClr val="1A2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709160" y="5596128"/>
            <a:ext cx="4114800" cy="530352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«database»  PostgreSQL on Neon (pooled)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9 — Deployment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Runtime topology: browser · Vite dev servers · Fastify API · Neon DB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987552"/>
            <a:ext cx="2194560" cy="1143000"/>
          </a:xfrm>
          <a:prstGeom prst="rect">
            <a:avLst/>
          </a:prstGeom>
          <a:solidFill>
            <a:srgbClr val="F0F4F8"/>
          </a:solidFill>
          <a:ln w="25400">
            <a:solidFill>
              <a:srgbClr val="1A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987552"/>
            <a:ext cx="2194560" cy="3200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005840"/>
            <a:ext cx="20299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«device» User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389888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React SPA (HTML + JS)</a:t>
            </a:r>
            <a:br/>
            <a:r>
              <a:t>Rendered in browser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68880"/>
            <a:ext cx="2651760" cy="1188720"/>
          </a:xfrm>
          <a:prstGeom prst="rect">
            <a:avLst/>
          </a:prstGeom>
          <a:solidFill>
            <a:srgbClr val="D9EAF9"/>
          </a:solidFill>
          <a:ln w="254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2651760" cy="32004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87168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«server» Vite Dev — :5173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52928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React/Vite SPA</a:t>
            </a:r>
            <a:br/>
            <a:r>
              <a:t>client/  (static in prod)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508760" y="2130552"/>
            <a:ext cx="2377440" cy="338328"/>
          </a:xfrm>
          <a:prstGeom prst="line">
            <a:avLst/>
          </a:prstGeom>
          <a:ln w="15240">
            <a:solidFill>
              <a:srgbClr val="23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18688" y="2468880"/>
            <a:ext cx="2651760" cy="1188720"/>
          </a:xfrm>
          <a:prstGeom prst="rect">
            <a:avLst/>
          </a:prstGeom>
          <a:solidFill>
            <a:srgbClr val="D9EAF9"/>
          </a:solidFill>
          <a:ln w="254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2468880"/>
            <a:ext cx="2651760" cy="32004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487168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«server» Vite Dev — :5174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852928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React/Vite SPA</a:t>
            </a:r>
            <a:br/>
            <a:r>
              <a:t>client-b/  (static in prod)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6200" y="2130552"/>
            <a:ext cx="566928" cy="338328"/>
          </a:xfrm>
          <a:prstGeom prst="line">
            <a:avLst/>
          </a:prstGeom>
          <a:ln w="15240">
            <a:solidFill>
              <a:srgbClr val="23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63056" y="2468880"/>
            <a:ext cx="2651760" cy="1188720"/>
          </a:xfrm>
          <a:prstGeom prst="rect">
            <a:avLst/>
          </a:prstGeom>
          <a:solidFill>
            <a:srgbClr val="D9EAF9"/>
          </a:solidFill>
          <a:ln w="2540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468880"/>
            <a:ext cx="2651760" cy="32004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487168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«server» Vite Dev — :5175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852928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React/Vite SPA</a:t>
            </a:r>
            <a:br/>
            <a:r>
              <a:t>client-c/  (static in prod)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86200" y="2130552"/>
            <a:ext cx="3511296" cy="338328"/>
          </a:xfrm>
          <a:prstGeom prst="line">
            <a:avLst/>
          </a:prstGeom>
          <a:ln w="15240">
            <a:solidFill>
              <a:srgbClr val="23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108960" y="4023360"/>
            <a:ext cx="2926080" cy="1234440"/>
          </a:xfrm>
          <a:prstGeom prst="rect">
            <a:avLst/>
          </a:prstGeom>
          <a:solidFill>
            <a:srgbClr val="D0F0EB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8960" y="4023360"/>
            <a:ext cx="2926080" cy="3200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041648"/>
            <a:ext cx="27614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«server» Fastify API — :3000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407408"/>
            <a:ext cx="2697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Node.js 20+  ·  TypeScript</a:t>
            </a:r>
            <a:br/>
            <a:r>
              <a:t>Routes, Services, Drizzle ORM</a:t>
            </a:r>
            <a:br/>
            <a:r>
              <a:t>Pino logging · Zod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08760" y="3657600"/>
            <a:ext cx="3063240" cy="36576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53128" y="3657600"/>
            <a:ext cx="118872" cy="36576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572000" y="3657600"/>
            <a:ext cx="2825496" cy="365760"/>
          </a:xfrm>
          <a:prstGeom prst="line">
            <a:avLst/>
          </a:prstGeom>
          <a:ln w="152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71600" y="3749039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2A9D8F"/>
                </a:solidFill>
              </a:rPr>
              <a:t>HTTPS + Bearer JWT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5532120"/>
            <a:ext cx="2926080" cy="960120"/>
          </a:xfrm>
          <a:prstGeom prst="rect">
            <a:avLst/>
          </a:prstGeom>
          <a:solidFill>
            <a:srgbClr val="FFF3CD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08960" y="5532120"/>
            <a:ext cx="2926080" cy="320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5550408"/>
            <a:ext cx="27614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«cloud DB» Neon 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8978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Managed serverless Postgres</a:t>
            </a:r>
            <a:br/>
            <a:r>
              <a:t>Pooled connection URL (DATABASE_URL)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0" y="5257800"/>
            <a:ext cx="0" cy="274320"/>
          </a:xfrm>
          <a:prstGeom prst="line">
            <a:avLst/>
          </a:prstGeom>
          <a:ln w="2286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63440" y="5321808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F4A261"/>
                </a:solidFill>
              </a:rPr>
              <a:t>SQL via Drizzle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3A5AAA"/>
                </a:solidFill>
              </a:rPr>
              <a:t>Experiment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Testing, Documentation &amp; Final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C0D8F8"/>
                </a:solidFill>
              </a:rPr>
              <a:t>Vitest · 80 manual test cases · CI · OpenAPI · README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10 — Testing &amp; Quality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Automated tests, manual test matrix, and CI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987552"/>
            <a:ext cx="4572000" cy="530352"/>
          </a:xfrm>
          <a:prstGeom prst="rect">
            <a:avLst/>
          </a:prstGeom>
          <a:solidFill>
            <a:srgbClr val="D9EAF9"/>
          </a:solidFill>
          <a:ln w="22860">
            <a:solidFill>
              <a:srgbClr val="23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996696"/>
            <a:ext cx="43891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236FB4"/>
                </a:solidFill>
              </a:rPr>
              <a:t>Unit Tests  (Vitest)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097280"/>
            <a:ext cx="3200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password hashing · JWT sign/verify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72768"/>
            <a:ext cx="3657600" cy="530352"/>
          </a:xfrm>
          <a:prstGeom prst="rect">
            <a:avLst/>
          </a:prstGeom>
          <a:solidFill>
            <a:srgbClr val="D0F0EB"/>
          </a:solidFill>
          <a:ln w="2286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581912"/>
            <a:ext cx="34747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2A9D8F"/>
                </a:solidFill>
              </a:rPr>
              <a:t>HTTP Smoke  (app.inject)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82496"/>
            <a:ext cx="3200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GET /health — no DB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157984"/>
            <a:ext cx="2926080" cy="530352"/>
          </a:xfrm>
          <a:prstGeom prst="rect">
            <a:avLst/>
          </a:prstGeom>
          <a:solidFill>
            <a:srgbClr val="EFE0FF"/>
          </a:solidFill>
          <a:ln w="22860">
            <a:solidFill>
              <a:srgbClr val="6A3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167128"/>
            <a:ext cx="27432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6A3C9A"/>
                </a:solidFill>
              </a:rPr>
              <a:t>DB Integration  (optional)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67712"/>
            <a:ext cx="3200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register + login (RUN_DB_INTEGRATION=1)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743200"/>
            <a:ext cx="2011680" cy="502920"/>
          </a:xfrm>
          <a:prstGeom prst="rect">
            <a:avLst/>
          </a:prstGeom>
          <a:solidFill>
            <a:srgbClr val="FDE8E2"/>
          </a:solidFill>
          <a:ln w="2286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752344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E76F51"/>
                </a:solidFill>
              </a:rPr>
              <a:t>Manual / Exploratory  (80 TCs)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8529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</a:rPr>
              <a:t>TESTING_REPORT.md — all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37560"/>
            <a:ext cx="411480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335584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35584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85032"/>
            <a:ext cx="4114800" cy="347472"/>
          </a:xfrm>
          <a:prstGeom prst="rect">
            <a:avLst/>
          </a:prstGeom>
          <a:solidFill>
            <a:srgbClr val="D9EA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7033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Total test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70332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A2B5E"/>
                </a:solidFill>
              </a:rPr>
              <a:t>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32504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507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050792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A2B5E"/>
                </a:solidFill>
              </a:rPr>
              <a:t>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79976"/>
            <a:ext cx="4114800" cy="347472"/>
          </a:xfrm>
          <a:prstGeom prst="rect">
            <a:avLst/>
          </a:prstGeom>
          <a:solidFill>
            <a:srgbClr val="D9EA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398264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398264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A2B5E"/>
                </a:solidFill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27448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745736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Pass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745736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A2B5E"/>
                </a:solidFill>
              </a:rPr>
              <a:t>100 %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74920"/>
            <a:ext cx="4114800" cy="347472"/>
          </a:xfrm>
          <a:prstGeom prst="rect">
            <a:avLst/>
          </a:prstGeom>
          <a:solidFill>
            <a:srgbClr val="D9EA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093208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Modules covered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093208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A2B5E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3337560"/>
            <a:ext cx="4206240" cy="3657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3355848"/>
            <a:ext cx="4023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CI Pipeline (.github/workflows/ci.yml)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3703320"/>
            <a:ext cx="4206240" cy="1627632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27448" y="379476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Trigger: push or PR to main / master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7448" y="4059936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1 — npm install (workspace)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7448" y="432511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2 — lint (workspaces that define it)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7448" y="459028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3 — npm test -w server (Vitest)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7448" y="4855464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Step 4 — npm run build (all workspaces)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7720" y="5468112"/>
            <a:ext cx="4206240" cy="36576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5486400"/>
            <a:ext cx="4023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5833872"/>
            <a:ext cx="4206240" cy="777240"/>
          </a:xfrm>
          <a:prstGeom prst="rect">
            <a:avLst/>
          </a:prstGeom>
          <a:solidFill>
            <a:srgbClr val="D9EA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27448" y="592531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OpenAPI/Swagger at GET /documentation (auto-gen)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7448" y="619048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README: setup, env vars, migrate, first-admin steps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7448" y="6455664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PROJECT_PLAN.md: full scope + phased roadmap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10 — Final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Delivered system: all phases complete, all tests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PPD Lab — Course Enrollment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05840"/>
            <a:ext cx="566928" cy="56692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005840"/>
            <a:ext cx="7909560" cy="566928"/>
          </a:xfrm>
          <a:prstGeom prst="rect">
            <a:avLst/>
          </a:prstGeom>
          <a:solidFill>
            <a:srgbClr val="D8F3DC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005840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2B5E"/>
                </a:solidFill>
              </a:rPr>
              <a:t>Phase 1 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280160"/>
            <a:ext cx="7699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Workspaces, Neon + users migration, GET /health, Vite + shadcn (Base UI)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773936"/>
            <a:ext cx="566928" cy="56692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82880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1773936"/>
            <a:ext cx="7909560" cy="566928"/>
          </a:xfrm>
          <a:prstGeom prst="rect">
            <a:avLst/>
          </a:prstGeom>
          <a:solidFill>
            <a:srgbClr val="D9EAF9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773936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2B5E"/>
                </a:solidFill>
              </a:rPr>
              <a:t>Phase 2 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048256"/>
            <a:ext cx="7699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POST /auth/register, login, GET /auth/me, logout (jti revocation), change-password, auth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542032"/>
            <a:ext cx="566928" cy="56692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59689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2542032"/>
            <a:ext cx="7909560" cy="566928"/>
          </a:xfrm>
          <a:prstGeom prst="rect">
            <a:avLst/>
          </a:prstGeom>
          <a:solidFill>
            <a:srgbClr val="D8F3DC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2542032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2B5E"/>
                </a:solidFill>
              </a:rPr>
              <a:t>Phase 3  Courses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816352"/>
            <a:ext cx="7699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courses + course_prerequisites tables, CRUD routes, public catalog, admin course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310128"/>
            <a:ext cx="566928" cy="56692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36499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310128"/>
            <a:ext cx="7909560" cy="566928"/>
          </a:xfrm>
          <a:prstGeom prst="rect">
            <a:avLst/>
          </a:prstGeom>
          <a:solidFill>
            <a:srgbClr val="D9EAF9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31012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2B5E"/>
                </a:solidFill>
              </a:rPr>
              <a:t>Phase 4  Enrollments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584448"/>
            <a:ext cx="7699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POST /enrollments with capacity + prereq + duplicate checks; approve/reject/cancel; status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078224"/>
            <a:ext cx="566928" cy="56692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133088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078224"/>
            <a:ext cx="7909560" cy="566928"/>
          </a:xfrm>
          <a:prstGeom prst="rect">
            <a:avLst/>
          </a:prstGeom>
          <a:solidFill>
            <a:srgbClr val="D8F3DC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078224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2B5E"/>
                </a:solidFill>
              </a:rPr>
              <a:t>Phase 5  Admin Aggregation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352544"/>
            <a:ext cx="7699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GET /students, /admin/dashboard, /admin/students|courses|enrollments|reports|admins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846320"/>
            <a:ext cx="566928" cy="56692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90118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4846320"/>
            <a:ext cx="7909560" cy="566928"/>
          </a:xfrm>
          <a:prstGeom prst="rect">
            <a:avLst/>
          </a:prstGeom>
          <a:solidFill>
            <a:srgbClr val="D9EAF9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846320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2B5E"/>
                </a:solidFill>
              </a:rPr>
              <a:t>Phase 6  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120640"/>
            <a:ext cx="7699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Notification table; approve/reject creates notification in same DB transaction; bell UI + toasts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5614416"/>
            <a:ext cx="566928" cy="56692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566928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5614416"/>
            <a:ext cx="7909560" cy="566928"/>
          </a:xfrm>
          <a:prstGeom prst="rect">
            <a:avLst/>
          </a:prstGeom>
          <a:solidFill>
            <a:srgbClr val="D8F3DC"/>
          </a:solidFill>
          <a:ln w="762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5614416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2B5E"/>
                </a:solidFill>
              </a:rPr>
              <a:t>Phase 7  Quality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5888736"/>
            <a:ext cx="7699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Vitest tests, optional DB integration, OpenAPI/Swagger, GitHub Actions CI, README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437376"/>
            <a:ext cx="84124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All 10 experiments completed  ·  100% test pass rate  ·  Full-stack, production-ready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